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56" r:id="rId2"/>
    <p:sldId id="257" r:id="rId3"/>
    <p:sldId id="258" r:id="rId4"/>
    <p:sldId id="266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49933F-04F3-B8D8-BDB1-3E767034D090}" v="1544" dt="2026-08-06T17:39:35.155"/>
    <p1510:client id="{B84A82AB-8E7E-72FD-D6BE-4C3FF99EB73D}" v="837" dt="2026-08-05T21:44:20.147"/>
    <p1510:client id="{CBE2B08B-5D20-5D74-0734-E41F9BE5C398}" v="517" dt="2026-08-05T00:20:42.4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033272"/>
            <a:ext cx="5892073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733288"/>
            <a:ext cx="5892071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6931152" y="793817"/>
            <a:ext cx="5260848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8587" y="207982"/>
            <a:ext cx="2662798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BB8170F-0370-4A38-8BF3-83D69476AE62}" type="datetimeFigureOut">
              <a:rPr lang="en-US" dirty="0"/>
              <a:t>8/6/2026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6929823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0" y="5420250"/>
            <a:ext cx="692982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2255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12648"/>
            <a:ext cx="11253668" cy="1106424"/>
          </a:xfrm>
        </p:spPr>
        <p:txBody>
          <a:bodyPr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139696"/>
            <a:ext cx="11253668" cy="428853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15516-589F-487D-BF51-9635DCEA90D5}" type="datetimeFigureOut">
              <a:rPr lang="en-US" dirty="0"/>
              <a:t>8/6/2026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3209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223554"/>
            <a:ext cx="114300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6083090"/>
            <a:ext cx="114299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12192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BD5D1244-0536-4076-95F8-65E3144966FF}" type="datetimeFigureOut">
              <a:rPr lang="en-US" dirty="0"/>
              <a:t>8/6/2026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1218895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95116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F94E15-B448-489B-871D-A40527BFA7B7}" type="datetimeFigureOut">
              <a:rPr lang="en-US" dirty="0"/>
              <a:t>8/6/2026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16127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E994A23-0EFF-404D-A2C5-6B54939039AD}" type="datetimeFigureOut">
              <a:rPr lang="en-US" dirty="0"/>
              <a:t>8/6/2026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06130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886968"/>
            <a:ext cx="11405277" cy="1170432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881" y="2832652"/>
            <a:ext cx="6893719" cy="3508951"/>
          </a:xfrm>
        </p:spPr>
        <p:txBody>
          <a:bodyPr anchor="t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311C3-93DB-42DC-917F-4386F19A1E3B}" type="datetimeFigureOut">
              <a:rPr lang="en-US" dirty="0"/>
              <a:t>8/6/2026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05123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944" y="521208"/>
            <a:ext cx="6647688" cy="1865376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491732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943" y="2651760"/>
            <a:ext cx="6327648" cy="35478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1899" y="210312"/>
            <a:ext cx="2962656" cy="41148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73511" y="210312"/>
            <a:ext cx="1679642" cy="411480"/>
          </a:xfrm>
        </p:spPr>
        <p:txBody>
          <a:bodyPr/>
          <a:lstStyle/>
          <a:p>
            <a:fld id="{948C47DC-C479-4517-B1B0-94DB01BA76E7}" type="datetimeFigureOut">
              <a:rPr lang="en-US" dirty="0"/>
              <a:t>8/6/2026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4923916" y="2452449"/>
            <a:ext cx="7268084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4923916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55548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1" y="2077374"/>
            <a:ext cx="4479107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7" y="2210542"/>
            <a:ext cx="5869293" cy="2432477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/>
          <a:lstStyle/>
          <a:p>
            <a:fld id="{F92C9D0B-C1A3-434D-9CF9-A666A14DD8A1}" type="datetimeFigureOut">
              <a:rPr lang="en-US" dirty="0"/>
              <a:t>8/6/2026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8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5837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1249959"/>
            <a:ext cx="4085912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249959"/>
            <a:ext cx="6440424" cy="523876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852" y="207982"/>
            <a:ext cx="1921315" cy="413360"/>
          </a:xfrm>
        </p:spPr>
        <p:txBody>
          <a:bodyPr/>
          <a:lstStyle/>
          <a:p>
            <a:fld id="{742A22FE-7CAA-4561-B3B2-F8D8C37BE3D2}" type="datetimeFigureOut">
              <a:rPr lang="en-US" dirty="0"/>
              <a:t>8/6/2026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918746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2757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876" y="749808"/>
            <a:ext cx="644202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491032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0875" y="213482"/>
            <a:ext cx="2962656" cy="41148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9227" y="210312"/>
            <a:ext cx="1679642" cy="411480"/>
          </a:xfrm>
        </p:spPr>
        <p:txBody>
          <a:bodyPr/>
          <a:lstStyle/>
          <a:p>
            <a:fld id="{491FA625-EDE8-4CCD-93F2-36B8EAED6AA1}" type="datetimeFigureOut">
              <a:rPr lang="en-US" dirty="0"/>
              <a:t>8/6/2026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875" y="2944368"/>
            <a:ext cx="6442025" cy="357169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10328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4992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08" y="612648"/>
            <a:ext cx="702259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4342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750307" y="210312"/>
            <a:ext cx="3531437" cy="4133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82299" y="210312"/>
            <a:ext cx="1679642" cy="413360"/>
          </a:xfrm>
        </p:spPr>
        <p:txBody>
          <a:bodyPr/>
          <a:lstStyle/>
          <a:p>
            <a:fld id="{5824A7B9-17B9-4425-9158-739F678A55EB}" type="datetimeFigureOut">
              <a:rPr lang="en-US" dirty="0"/>
              <a:t>8/6/2026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307" y="1746503"/>
            <a:ext cx="7022592" cy="480669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34576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61758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12648"/>
            <a:ext cx="7015483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224951" y="207982"/>
            <a:ext cx="1682496" cy="413360"/>
          </a:xfrm>
        </p:spPr>
        <p:txBody>
          <a:bodyPr/>
          <a:lstStyle/>
          <a:p>
            <a:fld id="{28E8FF4C-7F6A-4962-9270-F797B8959287}" type="datetimeFigureOut">
              <a:rPr lang="en-US" dirty="0"/>
              <a:t>8/6/2026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89594" y="207982"/>
            <a:ext cx="546447" cy="413360"/>
          </a:xfrm>
        </p:spPr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746504"/>
            <a:ext cx="7018271" cy="480669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773592" y="0"/>
            <a:ext cx="4417215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76883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05602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9163" y="210312"/>
            <a:ext cx="1679642" cy="411480"/>
          </a:xfrm>
        </p:spPr>
        <p:txBody>
          <a:bodyPr/>
          <a:lstStyle/>
          <a:p>
            <a:fld id="{064F86E1-145A-4683-AD05-97E7E41B4995}" type="datetimeFigureOut">
              <a:rPr lang="en-US" dirty="0"/>
              <a:t>8/6/2026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14093" y="210312"/>
            <a:ext cx="546447" cy="413360"/>
          </a:xfrm>
        </p:spPr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993391"/>
            <a:ext cx="5778227" cy="455980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6575416" y="0"/>
            <a:ext cx="5616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6570629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42298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412368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10312"/>
            <a:ext cx="2260057" cy="41148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9329" y="210312"/>
            <a:ext cx="1058111" cy="411480"/>
          </a:xfrm>
        </p:spPr>
        <p:txBody>
          <a:bodyPr/>
          <a:lstStyle/>
          <a:p>
            <a:fld id="{96B14CE5-CB23-4F24-AF40-FFA10F25B799}" type="datetimeFigureOut">
              <a:rPr lang="en-US" dirty="0"/>
              <a:t>8/6/2026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197" y="210312"/>
            <a:ext cx="440969" cy="413360"/>
          </a:xfrm>
        </p:spPr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04" y="2578609"/>
            <a:ext cx="4130606" cy="37124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912658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796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63079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5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939A3FF-4925-4C53-B6D9-F2B1807D4179}" type="datetimeFigureOut">
              <a:rPr lang="en-US" dirty="0"/>
              <a:t>8/6/2026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5012355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5822674" y="1834524"/>
            <a:ext cx="637872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5816454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98242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5166364"/>
            <a:ext cx="3656530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12198096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5166364"/>
            <a:ext cx="7073776" cy="122342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76"/>
            <a:ext cx="2962656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1" y="6437193"/>
            <a:ext cx="4549413" cy="365125"/>
          </a:xfrm>
        </p:spPr>
        <p:txBody>
          <a:bodyPr/>
          <a:lstStyle/>
          <a:p>
            <a:fld id="{220747AD-BB60-464B-B16B-6CC7DCEAA31E}" type="datetimeFigureOut">
              <a:rPr lang="en-US" dirty="0"/>
              <a:t>8/6/2026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437376"/>
            <a:ext cx="546447" cy="413360"/>
          </a:xfrm>
        </p:spPr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4842106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93454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62002"/>
            <a:ext cx="6612786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340F08F-40FA-4D3B-96CF-F8FAF483E9A7}" type="datetimeFigureOut">
              <a:rPr lang="en-US" dirty="0"/>
              <a:t>8/6/2026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-6627" y="2435966"/>
            <a:ext cx="7283725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068" y="762000"/>
            <a:ext cx="4092813" cy="5791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72771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7277100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38301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448056"/>
            <a:ext cx="1151475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EB5EDF0F-3515-4895-B663-882304741893}" type="datetimeFigureOut">
              <a:rPr lang="en-US" dirty="0"/>
              <a:t>8/6/2026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1480"/>
          </a:xfrm>
        </p:spPr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-3614" y="1700784"/>
            <a:ext cx="3318170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441" y="2130553"/>
            <a:ext cx="7971459" cy="4422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3318170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31620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4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5B29ED0-7871-4976-8402-1756C1FAC1EA}" type="datetimeFigureOut">
              <a:rPr lang="en-US" dirty="0"/>
              <a:t>8/6/2026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20004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3" y="914400"/>
            <a:ext cx="10045427" cy="4464554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8800" b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8000" b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7200" b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3640"/>
            <a:ext cx="2963692" cy="4133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6263640"/>
            <a:ext cx="1921315" cy="413360"/>
          </a:xfrm>
        </p:spPr>
        <p:txBody>
          <a:bodyPr/>
          <a:lstStyle/>
          <a:p>
            <a:fld id="{453B8C54-B76A-4DD8-BD0B-11200408342B}" type="datetimeFigureOut">
              <a:rPr lang="en-US" dirty="0"/>
              <a:t>8/6/2026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01562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40220"/>
            <a:ext cx="9299448" cy="1015996"/>
          </a:xfrm>
        </p:spPr>
        <p:txBody>
          <a:bodyPr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70816"/>
            <a:ext cx="9692640" cy="3872159"/>
          </a:xfrm>
        </p:spPr>
        <p:txBody>
          <a:bodyPr>
            <a:normAutofit/>
          </a:bodyPr>
          <a:lstStyle>
            <a:lvl1pPr marL="274320" indent="-274320">
              <a:lnSpc>
                <a:spcPct val="70000"/>
              </a:lnSpc>
              <a:buNone/>
              <a:defRPr sz="8800" cap="all" baseline="0">
                <a:solidFill>
                  <a:schemeClr val="tx2"/>
                </a:solidFill>
                <a:latin typeface="+mj-lt"/>
              </a:defRPr>
            </a:lvl1pPr>
            <a:lvl2pPr marL="274320" indent="-274320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2443788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5448BDD-274C-4BED-8350-833672089118}" type="datetimeFigureOut">
              <a:rPr lang="en-US" dirty="0"/>
              <a:t>8/6/2026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12192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26140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85800"/>
            <a:ext cx="11253668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D527F-9C49-4481-A18C-80BA2EA99E79}" type="datetimeFigureOut">
              <a:rPr lang="en-US" dirty="0"/>
              <a:t>8/6/2026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3" y="1773857"/>
            <a:ext cx="5349240" cy="4453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987" y="1773858"/>
            <a:ext cx="5349240" cy="4453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709591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685800"/>
            <a:ext cx="11256264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039EB-95FD-42A0-BF06-87A9D15142C9}" type="datetimeFigureOut">
              <a:rPr lang="en-US" dirty="0"/>
              <a:t>8/6/2026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773" y="1773857"/>
            <a:ext cx="5349064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773" y="2368476"/>
            <a:ext cx="5349064" cy="385876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96" y="1773857"/>
            <a:ext cx="5349240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96" y="2368476"/>
            <a:ext cx="5349240" cy="385876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29603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9701D-AA71-4F6F-B74A-236E07E9ABE4}" type="datetimeFigureOut">
              <a:rPr lang="en-US" dirty="0"/>
              <a:t>8/6/2026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2947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6D589-8B08-4190-9F3B-BA01ED2999CB}" type="datetimeFigureOut">
              <a:rPr lang="en-US" dirty="0"/>
              <a:t>8/6/2026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68784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832104"/>
            <a:ext cx="11253668" cy="1225296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63640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1" y="6263640"/>
            <a:ext cx="1933553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A08923-D58E-4822-B554-6A1173FCE25D}" type="datetimeFigureOut">
              <a:rPr lang="en-US" dirty="0"/>
              <a:t>8/6/2026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7" y="3429001"/>
            <a:ext cx="11253669" cy="27735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777787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1270390"/>
            <a:ext cx="7929980" cy="2060888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5" y="3794761"/>
            <a:ext cx="7932765" cy="15310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F50BF9E0-60DA-4D6D-8F14-825F152220D6}" type="datetimeFigureOut">
              <a:rPr lang="en-US" dirty="0"/>
              <a:t>8/6/2026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72765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93059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5079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935798"/>
            <a:ext cx="11253668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559" y="1707581"/>
            <a:ext cx="11253668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773" y="207982"/>
            <a:ext cx="2963692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80069" y="207982"/>
            <a:ext cx="192131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fld id="{18A4B20A-718A-4149-B5D2-676E857EB828}" type="datetimeFigureOut">
              <a:rPr lang="en-US" dirty="0"/>
              <a:t>8/6/2026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8870" y="207982"/>
            <a:ext cx="546447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50" b="1" cap="all" baseline="0"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43C14-E680-3360-0E4D-DA502AF50E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 dirty="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2174878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  <p:sldLayoutId id="2147483792" r:id="rId12"/>
    <p:sldLayoutId id="2147483793" r:id="rId13"/>
    <p:sldLayoutId id="2147483794" r:id="rId14"/>
    <p:sldLayoutId id="2147483795" r:id="rId15"/>
    <p:sldLayoutId id="2147483796" r:id="rId16"/>
    <p:sldLayoutId id="2147483797" r:id="rId17"/>
    <p:sldLayoutId id="2147483798" r:id="rId18"/>
    <p:sldLayoutId id="2147483799" r:id="rId19"/>
    <p:sldLayoutId id="2147483800" r:id="rId20"/>
    <p:sldLayoutId id="2147483801" r:id="rId21"/>
    <p:sldLayoutId id="2147483802" r:id="rId22"/>
    <p:sldLayoutId id="2147483803" r:id="rId23"/>
    <p:sldLayoutId id="2147483804" r:id="rId24"/>
    <p:sldLayoutId id="2147483805" r:id="rId25"/>
    <p:sldLayoutId id="2147483806" r:id="rId26"/>
    <p:sldLayoutId id="2147483807" r:id="rId27"/>
    <p:sldLayoutId id="2147483808" r:id="rId28"/>
    <p:sldLayoutId id="2147483809" r:id="rId29"/>
  </p:sldLayoutIdLst>
  <p:hf hdr="0"/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20560" y="1270390"/>
            <a:ext cx="7929980" cy="2060888"/>
          </a:xfrm>
        </p:spPr>
        <p:txBody>
          <a:bodyPr anchor="b">
            <a:normAutofit/>
          </a:bodyPr>
          <a:lstStyle/>
          <a:p>
            <a:r>
              <a:rPr lang="ko-KR" altLang="en-US" sz="5500"/>
              <a:t>Unit Meeting and Collaboration Final Presentation</a:t>
            </a:r>
          </a:p>
        </p:txBody>
      </p:sp>
      <p:sp>
        <p:nvSpPr>
          <p:cNvPr id="3" name="부제목 2"/>
          <p:cNvSpPr>
            <a:spLocks noGrp="1"/>
          </p:cNvSpPr>
          <p:nvPr>
            <p:ph idx="1"/>
          </p:nvPr>
        </p:nvSpPr>
        <p:spPr>
          <a:xfrm>
            <a:off x="317775" y="3794761"/>
            <a:ext cx="7932765" cy="153109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ko-KR" altLang="en-US"/>
              <a:t>Minkyung Oh</a:t>
            </a:r>
            <a:endParaRPr lang="en-US" altLang="ko-KR"/>
          </a:p>
          <a:p>
            <a:pPr marL="0" indent="0">
              <a:buNone/>
            </a:pPr>
            <a:r>
              <a:rPr lang="ko-KR" altLang="en-US"/>
              <a:t>Arjun Sivanesan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C9412051-C3B0-3A89-F025-DEEBBF913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22" name="Date Placeholder 5">
            <a:extLst>
              <a:ext uri="{FF2B5EF4-FFF2-40B4-BE49-F238E27FC236}">
                <a16:creationId xmlns:a16="http://schemas.microsoft.com/office/drawing/2014/main" id="{B7AD1EE8-3E7B-014B-DDF2-29C724301B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927399F-D384-4430-98FA-3465EC919D57}" type="datetime1">
              <a:rPr lang="en-US" smtClean="0"/>
              <a:pPr>
                <a:spcAft>
                  <a:spcPts val="600"/>
                </a:spcAft>
              </a:pPr>
              <a:t>8/6/2026</a:t>
            </a:fld>
            <a:endParaRPr lang="en-US"/>
          </a:p>
        </p:txBody>
      </p:sp>
      <p:sp>
        <p:nvSpPr>
          <p:cNvPr id="23" name="Slide Number Placeholder 6">
            <a:extLst>
              <a:ext uri="{FF2B5EF4-FFF2-40B4-BE49-F238E27FC236}">
                <a16:creationId xmlns:a16="http://schemas.microsoft.com/office/drawing/2014/main" id="{17B07C71-AE6B-DDA7-935F-D4B34C5C0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336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53D0FD4-819D-4187-8797-C35567B41C78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22B0A5-66E1-DA2B-845E-A993D0085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Initiative Overview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59E03F-C8DA-BD9A-0D2F-4AF04D8445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ko-KR">
                <a:ea typeface="+mn-lt"/>
                <a:cs typeface="+mn-lt"/>
              </a:rPr>
              <a:t>Briefly restate the problem, need, or opportunity your group addressed and the scope of the initiative.</a:t>
            </a:r>
            <a:endParaRPr lang="ko-KR" altLang="en-US">
              <a:ea typeface="+mn-lt"/>
              <a:cs typeface="+mn-lt"/>
            </a:endParaRPr>
          </a:p>
          <a:p>
            <a:r>
              <a:rPr lang="ko-KR" altLang="en-US" b="1">
                <a:ea typeface="맑은 고딕"/>
              </a:rPr>
              <a:t>Problem</a:t>
            </a:r>
            <a:r>
              <a:rPr lang="ko-KR" altLang="en-US">
                <a:ea typeface="맑은 고딕"/>
              </a:rPr>
              <a:t>: Unit meetings lacked a standardized onboarding process leading faculty and researchers to having different working expectations, this led to:</a:t>
            </a:r>
            <a:endParaRPr lang="ko-KR" altLang="en-US" dirty="0">
              <a:ea typeface="맑은 고딕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ko-KR" altLang="en-US">
                <a:ea typeface="맑은 고딕"/>
              </a:rPr>
              <a:t>Inconsistent expectations</a:t>
            </a:r>
            <a:endParaRPr lang="ko-KR" altLang="en-US" dirty="0">
              <a:ea typeface="맑은 고딕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ko-KR" altLang="en-US">
                <a:ea typeface="맑은 고딕"/>
              </a:rPr>
              <a:t>Duplicated explanantions</a:t>
            </a:r>
            <a:endParaRPr lang="ko-KR" altLang="en-US" dirty="0">
              <a:ea typeface="맑은 고딕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ko-KR" altLang="en-US">
                <a:ea typeface="맑은 고딕"/>
              </a:rPr>
              <a:t>Additional workload for faculty</a:t>
            </a:r>
            <a:endParaRPr lang="ko-KR" altLang="en-US" dirty="0">
              <a:ea typeface="맑은 고딕"/>
            </a:endParaRPr>
          </a:p>
          <a:p>
            <a:r>
              <a:rPr lang="ko-KR" altLang="en-US" b="1">
                <a:ea typeface="맑은 고딕"/>
              </a:rPr>
              <a:t>Scope</a:t>
            </a:r>
            <a:r>
              <a:rPr lang="ko-KR" altLang="en-US">
                <a:ea typeface="맑은 고딕"/>
              </a:rPr>
              <a:t>: Create separate introduction videos for researchers and faculty based on the unit meeting guide and template; Base both videos on the Unit Researcher Guide and present the info in a concise 2-3 minute format </a:t>
            </a:r>
          </a:p>
          <a:p>
            <a:r>
              <a:rPr lang="ko-KR" altLang="en-US" b="1">
                <a:ea typeface="맑은 고딕"/>
              </a:rPr>
              <a:t>Intended Outcome</a:t>
            </a:r>
            <a:r>
              <a:rPr lang="ko-KR" altLang="en-US">
                <a:ea typeface="맑은 고딕"/>
              </a:rPr>
              <a:t>: Consistent onboarding experience coupled with reduced advisor workload and clear expectations for researtchers and faculty</a:t>
            </a:r>
          </a:p>
          <a:p>
            <a:r>
              <a:rPr lang="ko-KR" altLang="en-US" b="1">
                <a:ea typeface="맑은 고딕"/>
              </a:rPr>
              <a:t>Stakeholders:</a:t>
            </a:r>
            <a:r>
              <a:rPr lang="ko-KR" altLang="en-US">
                <a:ea typeface="맑은 고딕"/>
              </a:rPr>
              <a:t> HAAG researchers, Faculty advisors, Computational advisors and  Future unit managers</a:t>
            </a:r>
            <a:endParaRPr lang="ko-KR" altLang="en-US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752299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26C417-120E-1680-31D0-CEE3A39C0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Work Completed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64E432-C3DD-339E-1865-22DC47096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ko-KR">
                <a:ea typeface="+mn-lt"/>
                <a:cs typeface="+mn-lt"/>
              </a:rPr>
              <a:t>Summarize the major activities, deliverables, procedures, or resources the group produced during the semester.</a:t>
            </a:r>
            <a:endParaRPr lang="en-US" altLang="ko-KR"/>
          </a:p>
          <a:p>
            <a:pPr marL="0" indent="0">
              <a:buNone/>
            </a:pPr>
            <a:r>
              <a:rPr lang="en-US" sz="2000" b="1">
                <a:ea typeface="+mn-lt"/>
                <a:cs typeface="+mn-lt"/>
              </a:rPr>
              <a:t>Deliverables</a:t>
            </a:r>
          </a:p>
          <a:p>
            <a:pPr marL="0" indent="0">
              <a:buNone/>
            </a:pPr>
            <a:r>
              <a:rPr lang="en-US" b="1"/>
              <a:t>Documentation</a:t>
            </a:r>
            <a:endParaRPr lang="en-US" b="1" dirty="0"/>
          </a:p>
          <a:p>
            <a:r>
              <a:rPr lang="en-US"/>
              <a:t>Reviewed the existing Unit Researcher Guide</a:t>
            </a:r>
          </a:p>
          <a:p>
            <a:pPr marL="0" indent="0">
              <a:buNone/>
            </a:pPr>
            <a:r>
              <a:rPr lang="en-US" b="1" dirty="0"/>
              <a:t>Faculty </a:t>
            </a:r>
            <a:r>
              <a:rPr lang="en-US" b="1"/>
              <a:t>Resources</a:t>
            </a:r>
            <a:endParaRPr lang="en-US" b="1" dirty="0"/>
          </a:p>
          <a:p>
            <a:r>
              <a:rPr lang="en-US"/>
              <a:t>Faculty onboarding PowerPoint</a:t>
            </a:r>
          </a:p>
          <a:p>
            <a:r>
              <a:rPr lang="en-US"/>
              <a:t>Faculty narration script</a:t>
            </a:r>
            <a:endParaRPr lang="en-US" dirty="0"/>
          </a:p>
          <a:p>
            <a:r>
              <a:rPr lang="en-US" dirty="0" err="1"/>
              <a:t>Facutly</a:t>
            </a:r>
            <a:r>
              <a:rPr lang="en-US" dirty="0"/>
              <a:t> onboarding video</a:t>
            </a:r>
          </a:p>
          <a:p>
            <a:pPr marL="0" indent="0">
              <a:buNone/>
            </a:pPr>
            <a:r>
              <a:rPr lang="en-US" b="1"/>
              <a:t>Researcher Resources</a:t>
            </a:r>
          </a:p>
          <a:p>
            <a:r>
              <a:rPr lang="en-US"/>
              <a:t>Created a researcher onboarding PowerPoint</a:t>
            </a:r>
          </a:p>
          <a:p>
            <a:r>
              <a:rPr lang="en-US" dirty="0"/>
              <a:t>Researcher narrat</a:t>
            </a:r>
            <a:r>
              <a:rPr lang="en-US"/>
              <a:t>ion script</a:t>
            </a:r>
            <a:endParaRPr lang="en-US" dirty="0"/>
          </a:p>
          <a:p>
            <a:r>
              <a:rPr lang="en-US"/>
              <a:t>Researcher onboarding video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115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F19D1-B399-3ACD-02B8-F70C24559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5B3148-741F-3961-DB2C-AA16F1769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85800"/>
            <a:ext cx="11253668" cy="66569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ko-KR" kern="1200" cap="all" baseline="0" dirty="0">
                <a:latin typeface="+mj-lt"/>
                <a:ea typeface="+mj-ea"/>
                <a:cs typeface="+mj-cs"/>
              </a:rPr>
              <a:t>Procedure Development</a:t>
            </a:r>
          </a:p>
        </p:txBody>
      </p:sp>
      <p:sp>
        <p:nvSpPr>
          <p:cNvPr id="42" name="Footer Placeholder 2">
            <a:extLst>
              <a:ext uri="{FF2B5EF4-FFF2-40B4-BE49-F238E27FC236}">
                <a16:creationId xmlns:a16="http://schemas.microsoft.com/office/drawing/2014/main" id="{D1056E2B-29E8-6430-9BBE-A82B1FED3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07982"/>
            <a:ext cx="2963692" cy="4133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 kern="1200" cap="all" spc="100" baseline="0">
                <a:latin typeface="+mn-lt"/>
                <a:ea typeface="+mn-ea"/>
                <a:cs typeface="+mn-cs"/>
              </a:rPr>
              <a:t>
              </a:t>
            </a:r>
          </a:p>
        </p:txBody>
      </p:sp>
      <p:sp>
        <p:nvSpPr>
          <p:cNvPr id="43" name="Date Placeholder 3">
            <a:extLst>
              <a:ext uri="{FF2B5EF4-FFF2-40B4-BE49-F238E27FC236}">
                <a16:creationId xmlns:a16="http://schemas.microsoft.com/office/drawing/2014/main" id="{55B69272-F5A0-64A4-F0A7-FE32FEA76E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207982"/>
            <a:ext cx="1921315" cy="4133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A832788-865C-490B-B2A6-3FB934A525CB}" type="datetime1">
              <a:rPr lang="en-US" smtClean="0"/>
              <a:pPr>
                <a:spcAft>
                  <a:spcPts val="600"/>
                </a:spcAft>
              </a:pPr>
              <a:t>8/6/2026</a:t>
            </a:fld>
            <a:endParaRPr lang="en-US"/>
          </a:p>
        </p:txBody>
      </p:sp>
      <p:sp>
        <p:nvSpPr>
          <p:cNvPr id="44" name="Slide Number Placeholder 4">
            <a:extLst>
              <a:ext uri="{FF2B5EF4-FFF2-40B4-BE49-F238E27FC236}">
                <a16:creationId xmlns:a16="http://schemas.microsoft.com/office/drawing/2014/main" id="{B2B55EEF-06CC-33F9-A53B-A5A2B8412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33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53D0FD4-819D-4187-8797-C35567B41C78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45" name="내용 개체 틀 2">
            <a:extLst>
              <a:ext uri="{FF2B5EF4-FFF2-40B4-BE49-F238E27FC236}">
                <a16:creationId xmlns:a16="http://schemas.microsoft.com/office/drawing/2014/main" id="{FED5C6E3-7410-5E8B-9474-C083D2B2E9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3" y="1745103"/>
            <a:ext cx="5349240" cy="315916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ko-KR" sz="1400"/>
              <a:t>Explain any processes or procedures the team created, why they were needed, and how future HAAG members should use them. </a:t>
            </a:r>
            <a:endParaRPr lang="en-US"/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sz="1400" b="1"/>
              <a:t>Procedure Created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sz="1400" i="1"/>
              <a:t>Faculty Onboarding Process</a:t>
            </a:r>
          </a:p>
          <a:p>
            <a:pPr marL="342900">
              <a:lnSpc>
                <a:spcPct val="110000"/>
              </a:lnSpc>
            </a:pPr>
            <a:r>
              <a:rPr lang="en-US" altLang="ko-KR" sz="1400"/>
              <a:t>Introduce why unit meetings exist</a:t>
            </a:r>
          </a:p>
          <a:p>
            <a:pPr marL="342900">
              <a:lnSpc>
                <a:spcPct val="110000"/>
              </a:lnSpc>
            </a:pPr>
            <a:r>
              <a:rPr lang="en-US" altLang="ko-KR" sz="1400"/>
              <a:t>Explain advisor responsibilities </a:t>
            </a:r>
          </a:p>
          <a:p>
            <a:pPr marL="342900">
              <a:lnSpc>
                <a:spcPct val="110000"/>
              </a:lnSpc>
            </a:pPr>
            <a:r>
              <a:rPr lang="en-US" altLang="ko-KR" sz="1400"/>
              <a:t>Clarify researcher accountability</a:t>
            </a:r>
          </a:p>
          <a:p>
            <a:pPr marL="342900">
              <a:lnSpc>
                <a:spcPct val="110000"/>
              </a:lnSpc>
            </a:pPr>
            <a:r>
              <a:rPr lang="en-US" altLang="ko-KR" sz="1400"/>
              <a:t>Direct viewers to the Unit Researcher Guide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F471BA-3690-EF11-3F66-33CB337C7A4A}"/>
              </a:ext>
            </a:extLst>
          </p:cNvPr>
          <p:cNvSpPr txBox="1"/>
          <p:nvPr/>
        </p:nvSpPr>
        <p:spPr>
          <a:xfrm>
            <a:off x="5951817" y="2694009"/>
            <a:ext cx="5334863" cy="245467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sz="1400" i="1">
                <a:solidFill>
                  <a:schemeClr val="tx2"/>
                </a:solidFill>
              </a:rPr>
              <a:t>Researcher Onboarding Process</a:t>
            </a:r>
            <a:endParaRPr lang="en-US" sz="1400">
              <a:solidFill>
                <a:schemeClr val="tx2"/>
              </a:solidFill>
            </a:endParaRPr>
          </a:p>
          <a:p>
            <a:pPr marL="228600" indent="-228600" latinLnBrk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2"/>
                </a:solidFill>
              </a:rPr>
              <a:t>Explain the purpose of units. </a:t>
            </a:r>
          </a:p>
          <a:p>
            <a:pPr marL="228600" indent="-228600" latinLnBrk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2"/>
                </a:solidFill>
              </a:rPr>
              <a:t>Explain the roles and responsibilities of researchers, including project representatives and non-attending members. </a:t>
            </a:r>
          </a:p>
          <a:p>
            <a:pPr marL="228600" indent="-228600" latinLnBrk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2"/>
                </a:solidFill>
              </a:rPr>
              <a:t>Provide a more in-depth review of the templates, meeting structure, and working session. </a:t>
            </a:r>
          </a:p>
          <a:p>
            <a:pPr marL="228600" indent="-228600" latinLnBrk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2"/>
                </a:solidFill>
              </a:rPr>
              <a:t>Provide an overview of grading.</a:t>
            </a:r>
          </a:p>
          <a:p>
            <a:pPr marL="228600" indent="-228600" latinLnBrk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>
              <a:solidFill>
                <a:schemeClr val="tx2"/>
              </a:solidFill>
            </a:endParaRPr>
          </a:p>
          <a:p>
            <a:pPr marL="228600" indent="-228600" latinLnBrk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>
              <a:solidFill>
                <a:schemeClr val="tx2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3841AA7-F8A0-8ABF-9624-28D1E7FCBFD6}"/>
              </a:ext>
            </a:extLst>
          </p:cNvPr>
          <p:cNvSpPr txBox="1"/>
          <p:nvPr/>
        </p:nvSpPr>
        <p:spPr>
          <a:xfrm>
            <a:off x="442451" y="5401595"/>
            <a:ext cx="1129173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ea typeface="+mn-lt"/>
                <a:cs typeface="+mn-lt"/>
              </a:rPr>
              <a:t>These onboarding procedures provide a repeatable process that future HAAG units can reuse when introducing new researchers and advisors.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775625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4EE7B8-71AD-91C5-3470-2C0B68FA0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Implementation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70C4A3-458F-86C3-6D4C-87D190A6A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ko-KR">
                <a:ea typeface="+mn-lt"/>
                <a:cs typeface="+mn-lt"/>
              </a:rPr>
              <a:t>Describe any procedures that were tested or implemented, who participated, what happened, and what evidence or observations were collected. It is acceptable if implementation was not completed; explain why and what should happen next.</a:t>
            </a:r>
          </a:p>
          <a:p>
            <a:pPr>
              <a:buNone/>
            </a:pPr>
            <a:r>
              <a:rPr lang="ko-KR" b="1">
                <a:ea typeface="+mn-lt"/>
                <a:cs typeface="+mn-lt"/>
              </a:rPr>
              <a:t>Implementation Status</a:t>
            </a:r>
            <a:endParaRPr lang="ko-KR"/>
          </a:p>
          <a:p>
            <a:pPr>
              <a:buFont typeface="Arial"/>
              <a:buChar char="•"/>
            </a:pPr>
            <a:r>
              <a:rPr lang="ko-KR">
                <a:ea typeface="+mn-lt"/>
                <a:cs typeface="+mn-lt"/>
              </a:rPr>
              <a:t>Full implementation was not completed during the semester due to the limited project timeline and the mid-semester change in initiative scope. </a:t>
            </a:r>
            <a:endParaRPr lang="ko-KR"/>
          </a:p>
          <a:p>
            <a:pPr>
              <a:buFont typeface="Arial"/>
              <a:buChar char="•"/>
            </a:pPr>
            <a:r>
              <a:rPr lang="ko-KR">
                <a:ea typeface="+mn-lt"/>
                <a:cs typeface="+mn-lt"/>
              </a:rPr>
              <a:t>The team shifted its focus toward creating onboarding materials that could be used for future implementation. </a:t>
            </a:r>
            <a:endParaRPr lang="ko-KR"/>
          </a:p>
          <a:p>
            <a:pPr indent="0">
              <a:buNone/>
            </a:pPr>
            <a:r>
              <a:rPr lang="ko-KR" b="1">
                <a:ea typeface="+mn-lt"/>
                <a:cs typeface="+mn-lt"/>
              </a:rPr>
              <a:t>Preparation Completed</a:t>
            </a:r>
            <a:endParaRPr lang="ko-KR"/>
          </a:p>
          <a:p>
            <a:pPr>
              <a:buFont typeface="Arial"/>
              <a:buChar char="•"/>
            </a:pPr>
            <a:r>
              <a:rPr lang="ko-KR">
                <a:ea typeface="+mn-lt"/>
                <a:cs typeface="+mn-lt"/>
              </a:rPr>
              <a:t>Faculty and researcher onboarding scripts were developed. </a:t>
            </a:r>
            <a:endParaRPr lang="ko-KR"/>
          </a:p>
          <a:p>
            <a:pPr>
              <a:buFont typeface="Arial"/>
              <a:buChar char="•"/>
            </a:pPr>
            <a:r>
              <a:rPr lang="ko-KR">
                <a:ea typeface="+mn-lt"/>
                <a:cs typeface="+mn-lt"/>
              </a:rPr>
              <a:t>Onboarding PowerPoint presentations were created. </a:t>
            </a:r>
            <a:endParaRPr lang="ko-KR"/>
          </a:p>
          <a:p>
            <a:pPr>
              <a:buFont typeface="Arial"/>
              <a:buChar char="•"/>
            </a:pPr>
            <a:r>
              <a:rPr lang="ko-KR">
                <a:ea typeface="+mn-lt"/>
                <a:cs typeface="+mn-lt"/>
              </a:rPr>
              <a:t>Materials were reviewed and revised based on feedback from Kevin. </a:t>
            </a:r>
            <a:endParaRPr lang="ko-KR"/>
          </a:p>
          <a:p>
            <a:pPr indent="0">
              <a:buNone/>
            </a:pPr>
            <a:r>
              <a:rPr lang="ko-KR" b="1">
                <a:ea typeface="+mn-lt"/>
                <a:cs typeface="+mn-lt"/>
              </a:rPr>
              <a:t>Next Steps</a:t>
            </a:r>
            <a:endParaRPr lang="ko-KR"/>
          </a:p>
          <a:p>
            <a:pPr>
              <a:buFont typeface="Arial"/>
              <a:buChar char="•"/>
            </a:pPr>
            <a:r>
              <a:rPr lang="ko-KR">
                <a:ea typeface="+mn-lt"/>
                <a:cs typeface="+mn-lt"/>
              </a:rPr>
              <a:t>Disseminate the onboarding materials to new HAAG members. </a:t>
            </a:r>
            <a:endParaRPr lang="ko-KR"/>
          </a:p>
          <a:p>
            <a:pPr>
              <a:buFont typeface="Arial"/>
              <a:buChar char="•"/>
            </a:pPr>
            <a:r>
              <a:rPr lang="ko-KR">
                <a:ea typeface="+mn-lt"/>
                <a:cs typeface="+mn-lt"/>
              </a:rPr>
              <a:t>Gather feedback from researchers and faculty. </a:t>
            </a:r>
            <a:endParaRPr lang="ko-KR"/>
          </a:p>
          <a:p>
            <a:pPr>
              <a:buFont typeface="Arial"/>
              <a:buChar char="•"/>
            </a:pPr>
            <a:r>
              <a:rPr lang="ko-KR">
                <a:ea typeface="+mn-lt"/>
                <a:cs typeface="+mn-lt"/>
              </a:rPr>
              <a:t>Revise the onboarding resources based on future use.</a:t>
            </a:r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3825185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9AF338-2927-8DAF-F613-9D18DD7B9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Outcomes and Effectiveness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1F1C72-C46C-4288-0B6F-CBAFFB1AA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ko-KR">
                <a:ea typeface="+mn-lt"/>
                <a:cs typeface="+mn-lt"/>
              </a:rPr>
              <a:t>Discuss what worked, what did not work, and how the group evaluated the initiative or its implementation.</a:t>
            </a:r>
          </a:p>
          <a:p>
            <a:pPr marL="0" indent="0">
              <a:buNone/>
            </a:pPr>
            <a:r>
              <a:rPr lang="en-US" altLang="ko-KR" b="1" dirty="0"/>
              <a:t>What</a:t>
            </a:r>
            <a:r>
              <a:rPr lang="ko-KR" b="1" dirty="0"/>
              <a:t> </a:t>
            </a:r>
            <a:r>
              <a:rPr lang="en-US" altLang="ko-KR" b="1"/>
              <a:t>Worked</a:t>
            </a:r>
          </a:p>
          <a:p>
            <a:r>
              <a:rPr lang="en-US" altLang="ko-KR"/>
              <a:t>Separate videos reduce information overload</a:t>
            </a:r>
          </a:p>
          <a:p>
            <a:r>
              <a:rPr lang="en-US" altLang="ko-KR" dirty="0"/>
              <a:t>Faculty receive only </a:t>
            </a:r>
            <a:r>
              <a:rPr lang="en-US" altLang="ko-KR"/>
              <a:t>information relevant to their role</a:t>
            </a:r>
          </a:p>
          <a:p>
            <a:r>
              <a:rPr lang="en-US" altLang="ko-KR" dirty="0"/>
              <a:t>Researchers receive role-</a:t>
            </a:r>
            <a:r>
              <a:rPr lang="en-US" altLang="ko-KR"/>
              <a:t>specific</a:t>
            </a:r>
            <a:r>
              <a:rPr lang="en-US" altLang="ko-KR" dirty="0"/>
              <a:t> onboarding</a:t>
            </a:r>
          </a:p>
          <a:p>
            <a:r>
              <a:rPr lang="en-US" altLang="ko-KR"/>
              <a:t>Videos complement the Unit Researcher Guide </a:t>
            </a:r>
          </a:p>
          <a:p>
            <a:pPr marL="0" indent="0">
              <a:buNone/>
            </a:pPr>
            <a:r>
              <a:rPr lang="en-US" altLang="ko-KR" b="1"/>
              <a:t>Evaluation</a:t>
            </a:r>
          </a:p>
          <a:p>
            <a:r>
              <a:rPr lang="en-US" altLang="ko-KR" dirty="0"/>
              <a:t>Formal </a:t>
            </a:r>
            <a:r>
              <a:rPr lang="en-US" altLang="ko-KR"/>
              <a:t>evaluation was not conducted due to time constraints</a:t>
            </a:r>
            <a:endParaRPr lang="en-US" altLang="ko-KR" dirty="0"/>
          </a:p>
          <a:p>
            <a:r>
              <a:rPr lang="en-US" altLang="ko-KR"/>
              <a:t>Future iterations should gather researcher and faculty feedback after onboarding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b="1" dirty="0"/>
              <a:t>Future </a:t>
            </a:r>
            <a:r>
              <a:rPr lang="en-US" altLang="ko-KR" b="1"/>
              <a:t>Improvements</a:t>
            </a:r>
          </a:p>
          <a:p>
            <a:r>
              <a:rPr lang="en-US" dirty="0"/>
              <a:t>Collect feedback after implementat</a:t>
            </a:r>
            <a:r>
              <a:rPr lang="en-US"/>
              <a:t>ion</a:t>
            </a:r>
          </a:p>
          <a:p>
            <a:r>
              <a:rPr lang="en-US"/>
              <a:t>Update videos as unit procedures evolve</a:t>
            </a:r>
            <a:endParaRPr lang="en-US" dirty="0"/>
          </a:p>
          <a:p>
            <a:r>
              <a:rPr lang="en-US"/>
              <a:t>Expand onboarding with additional examples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923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273DA9-6AFE-3E7D-760B-FE011789E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Challenges and Adaptations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DE69E9-2629-83A3-7996-A7EB3DF66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pPr marL="0" indent="0">
              <a:buNone/>
            </a:pPr>
            <a:r>
              <a:rPr lang="ko-KR" b="1">
                <a:ea typeface="+mn-lt"/>
                <a:cs typeface="+mn-lt"/>
              </a:rPr>
              <a:t>Identify barriers, changes in scope, scheduling limitations, or decisions that affected the work.</a:t>
            </a:r>
            <a:endParaRPr lang="ko-KR" altLang="en-US" b="1">
              <a:ea typeface="맑은 고딕"/>
            </a:endParaRPr>
          </a:p>
          <a:p>
            <a:pPr marL="0" indent="0">
              <a:buNone/>
            </a:pPr>
            <a:r>
              <a:rPr lang="en-US" altLang="ko-KR" b="1" dirty="0">
                <a:ea typeface="맑은 고딕"/>
              </a:rPr>
              <a:t>Changes in </a:t>
            </a:r>
            <a:r>
              <a:rPr lang="en-US" altLang="ko-KR" b="1">
                <a:ea typeface="맑은 고딕"/>
              </a:rPr>
              <a:t>Scope</a:t>
            </a:r>
            <a:endParaRPr lang="en-US" altLang="ko-KR" dirty="0">
              <a:ea typeface="맑은 고딕"/>
            </a:endParaRPr>
          </a:p>
          <a:p>
            <a:pPr marL="285750" indent="-285750"/>
            <a:r>
              <a:rPr lang="en-US" altLang="ko-KR">
                <a:ea typeface="맑은 고딕"/>
              </a:rPr>
              <a:t>Initiative scope changed midway through the semester.</a:t>
            </a:r>
            <a:endParaRPr lang="en-US" altLang="ko-KR" dirty="0">
              <a:ea typeface="맑은 고딕"/>
            </a:endParaRPr>
          </a:p>
          <a:p>
            <a:pPr marL="285750" indent="-285750"/>
            <a:r>
              <a:rPr lang="en-US" altLang="ko-KR" dirty="0">
                <a:ea typeface="맑은 고딕"/>
              </a:rPr>
              <a:t>Focus shifted from refining the Unit Researcher Guide and gathering stakeholder feedback to developing separate onboarding videos for </a:t>
            </a:r>
            <a:r>
              <a:rPr lang="en-US" altLang="ko-KR">
                <a:ea typeface="맑은 고딕"/>
              </a:rPr>
              <a:t>researchers and faculty.</a:t>
            </a:r>
            <a:endParaRPr lang="en-US" altLang="ko-KR" dirty="0">
              <a:ea typeface="맑은 고딕"/>
            </a:endParaRPr>
          </a:p>
          <a:p>
            <a:pPr marL="0" indent="0">
              <a:buNone/>
            </a:pPr>
            <a:r>
              <a:rPr lang="en-US" altLang="ko-KR" b="1" dirty="0">
                <a:ea typeface="맑은 고딕"/>
              </a:rPr>
              <a:t>Scheduling </a:t>
            </a:r>
            <a:r>
              <a:rPr lang="en-US" altLang="ko-KR" b="1">
                <a:ea typeface="맑은 고딕"/>
              </a:rPr>
              <a:t>Limitations</a:t>
            </a:r>
            <a:endParaRPr lang="en-US" altLang="ko-KR" b="1" dirty="0">
              <a:ea typeface="맑은 고딕"/>
            </a:endParaRPr>
          </a:p>
          <a:p>
            <a:r>
              <a:rPr lang="en-US" altLang="ko-KR" dirty="0">
                <a:ea typeface="맑은 고딕"/>
              </a:rPr>
              <a:t>The compressed summer semester limited the time available for implementation and </a:t>
            </a:r>
            <a:r>
              <a:rPr lang="en-US" altLang="ko-KR">
                <a:ea typeface="맑은 고딕"/>
              </a:rPr>
              <a:t>evaluation.</a:t>
            </a:r>
            <a:endParaRPr lang="en-US" altLang="ko-KR" dirty="0">
              <a:ea typeface="맑은 고딕"/>
            </a:endParaRPr>
          </a:p>
          <a:p>
            <a:r>
              <a:rPr lang="en-US" altLang="ko-KR">
                <a:ea typeface="맑은 고딕"/>
              </a:rPr>
              <a:t>Scope changes required the team to revisit earlier work and adjust project priorities.</a:t>
            </a:r>
            <a:endParaRPr lang="en-US" altLang="ko-KR" dirty="0">
              <a:ea typeface="맑은 고딕"/>
            </a:endParaRPr>
          </a:p>
          <a:p>
            <a:pPr marL="0" indent="0">
              <a:buNone/>
            </a:pPr>
            <a:r>
              <a:rPr lang="en-US" altLang="ko-KR" b="1">
                <a:ea typeface="맑은 고딕"/>
              </a:rPr>
              <a:t>Adaptations</a:t>
            </a:r>
          </a:p>
          <a:p>
            <a:r>
              <a:rPr lang="en-US" altLang="ko-KR" dirty="0">
                <a:ea typeface="맑은 고딕"/>
              </a:rPr>
              <a:t>Faculty and researcher onboarding materials were developed </a:t>
            </a:r>
            <a:r>
              <a:rPr lang="en-US" altLang="ko-KR">
                <a:ea typeface="맑은 고딕"/>
              </a:rPr>
              <a:t>separately to better address the needs of each audience.</a:t>
            </a:r>
            <a:endParaRPr lang="en-US" altLang="ko-KR" dirty="0">
              <a:ea typeface="맑은 고딕"/>
            </a:endParaRPr>
          </a:p>
          <a:p>
            <a:r>
              <a:rPr lang="en-US" altLang="ko-KR" dirty="0">
                <a:ea typeface="맑은 고딕"/>
              </a:rPr>
              <a:t>Scripts and presentation materials were revised multiple times as project requirements ev</a:t>
            </a:r>
            <a:r>
              <a:rPr lang="en-US" altLang="ko-KR">
                <a:ea typeface="맑은 고딕"/>
              </a:rPr>
              <a:t>olved.</a:t>
            </a:r>
            <a:endParaRPr lang="en-US" altLang="ko-KR" dirty="0">
              <a:ea typeface="맑은 고딕"/>
            </a:endParaRPr>
          </a:p>
          <a:p>
            <a:endParaRPr lang="en-US" altLang="ko-KR" dirty="0">
              <a:ea typeface="맑은 고딕"/>
            </a:endParaRPr>
          </a:p>
          <a:p>
            <a:endParaRPr lang="ko-KR" altLang="en-US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333865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86A4B2-3BE9-BFC5-A29E-28EB8EC61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Reflection and Next Steps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102A12-E592-83B6-CDCD-2CEA738F8B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ko-KR">
                <a:ea typeface="+mn-lt"/>
                <a:cs typeface="+mn-lt"/>
              </a:rPr>
              <a:t>Share the team’s key lessons, remaining gaps, and recommendations for students who may continue the initiative in a future semester</a:t>
            </a:r>
          </a:p>
          <a:p>
            <a:pPr marL="0" indent="0">
              <a:buNone/>
            </a:pPr>
            <a:r>
              <a:rPr lang="en-US" altLang="ko-KR" b="1"/>
              <a:t>Lessons</a:t>
            </a:r>
            <a:r>
              <a:rPr lang="ko-KR" b="1" dirty="0"/>
              <a:t> </a:t>
            </a:r>
            <a:r>
              <a:rPr lang="en-US" altLang="ko-KR" b="1"/>
              <a:t>Learned</a:t>
            </a:r>
          </a:p>
          <a:p>
            <a:r>
              <a:rPr lang="en-US" altLang="ko-KR"/>
              <a:t>Different audiences require different messaging</a:t>
            </a:r>
          </a:p>
          <a:p>
            <a:r>
              <a:rPr lang="en-US" altLang="ko-KR" dirty="0"/>
              <a:t>Faculty onboarding should emphasize mentorship rather than administrative </a:t>
            </a:r>
            <a:r>
              <a:rPr lang="en-US" altLang="ko-KR"/>
              <a:t>responsibilities.</a:t>
            </a:r>
            <a:endParaRPr lang="en-US" altLang="ko-KR" dirty="0"/>
          </a:p>
          <a:p>
            <a:r>
              <a:rPr lang="en-US" altLang="ko-KR" dirty="0"/>
              <a:t>Short, role specific videos improve accessibility and consis</a:t>
            </a:r>
            <a:r>
              <a:rPr lang="en-US" altLang="ko-KR"/>
              <a:t>tency</a:t>
            </a:r>
          </a:p>
          <a:p>
            <a:pPr marL="0" indent="0">
              <a:buNone/>
            </a:pPr>
            <a:r>
              <a:rPr lang="en-US" b="1"/>
              <a:t>Next Steps</a:t>
            </a:r>
          </a:p>
          <a:p>
            <a:r>
              <a:rPr lang="en-US" dirty="0"/>
              <a:t>Disseminate the </a:t>
            </a:r>
            <a:r>
              <a:rPr lang="en-US"/>
              <a:t>onboarding materials to future HAAG researchers and advisors.</a:t>
            </a:r>
            <a:endParaRPr lang="en-US" dirty="0"/>
          </a:p>
          <a:p>
            <a:r>
              <a:rPr lang="en-US" dirty="0"/>
              <a:t>Collect feedback to evaluate the effectiveness of the onboarding process after implemen</a:t>
            </a:r>
            <a:r>
              <a:rPr lang="en-US"/>
              <a:t>tation.</a:t>
            </a:r>
          </a:p>
          <a:p>
            <a:r>
              <a:rPr lang="en-US"/>
              <a:t>Update the videos and Unit Researcher Guide as the unit meeting process evolves.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47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44209A-762A-9226-80DA-EC3EAE9E7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Team Contributions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BBB9F4-6BE3-37F0-8372-206FBAD7C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ko-KR" b="1">
                <a:ea typeface="+mn-lt"/>
                <a:cs typeface="+mn-lt"/>
              </a:rPr>
              <a:t>Briefly acknowledge how each group member and supporting admin or former PM researcher contributed.</a:t>
            </a:r>
          </a:p>
          <a:p>
            <a:r>
              <a:rPr lang="ko-KR" altLang="en-US">
                <a:ea typeface="+mn-lt"/>
                <a:cs typeface="+mn-lt"/>
              </a:rPr>
              <a:t>Minkyung: Made script, slide, and video for researcher side of introduction</a:t>
            </a:r>
            <a:endParaRPr lang="ko-KR" altLang="en-US" dirty="0">
              <a:ea typeface="+mn-lt"/>
              <a:cs typeface="+mn-lt"/>
            </a:endParaRPr>
          </a:p>
          <a:p>
            <a:r>
              <a:rPr lang="ko-KR" altLang="en-US">
                <a:ea typeface="+mn-lt"/>
                <a:cs typeface="+mn-lt"/>
              </a:rPr>
              <a:t>Arjun: Made script, slide, and video for faculty side of introduction</a:t>
            </a:r>
            <a:endParaRPr lang="ko-KR" altLang="en-US" dirty="0">
              <a:ea typeface="+mn-lt"/>
              <a:cs typeface="+mn-lt"/>
            </a:endParaRPr>
          </a:p>
          <a:p>
            <a:r>
              <a:rPr lang="ko-KR" altLang="en-US">
                <a:ea typeface="+mn-lt"/>
                <a:cs typeface="+mn-lt"/>
              </a:rPr>
              <a:t>Kevin: PM researcher lead, helped with scoping and reviewing the scripts and slides</a:t>
            </a:r>
            <a:endParaRPr lang="ko-KR" alt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ko-KR" alt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97165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51AC04-1380-1C5A-0227-D72C0A9E7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3120" y="2767118"/>
            <a:ext cx="5444067" cy="1325563"/>
          </a:xfrm>
        </p:spPr>
        <p:txBody>
          <a:bodyPr/>
          <a:lstStyle/>
          <a:p>
            <a:r>
              <a:rPr lang="ko-KR" altLang="en-US">
                <a:ea typeface="맑은 고딕"/>
              </a:rPr>
              <a:t>Questions &amp; Feedback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7531376"/>
      </p:ext>
    </p:extLst>
  </p:cSld>
  <p:clrMapOvr>
    <a:masterClrMapping/>
  </p:clrMapOvr>
</p:sld>
</file>

<file path=ppt/theme/theme1.xml><?xml version="1.0" encoding="utf-8"?>
<a:theme xmlns:a="http://schemas.openxmlformats.org/drawingml/2006/main" name="Editorial">
  <a:themeElements>
    <a:clrScheme name="Editorial">
      <a:dk1>
        <a:sysClr val="windowText" lastClr="000000"/>
      </a:dk1>
      <a:lt1>
        <a:sysClr val="window" lastClr="FFFFFF"/>
      </a:lt1>
      <a:dk2>
        <a:srgbClr val="171717"/>
      </a:dk2>
      <a:lt2>
        <a:srgbClr val="F7F6F3"/>
      </a:lt2>
      <a:accent1>
        <a:srgbClr val="C8350F"/>
      </a:accent1>
      <a:accent2>
        <a:srgbClr val="B6A992"/>
      </a:accent2>
      <a:accent3>
        <a:srgbClr val="D59A6D"/>
      </a:accent3>
      <a:accent4>
        <a:srgbClr val="C7793D"/>
      </a:accent4>
      <a:accent5>
        <a:srgbClr val="DB8464"/>
      </a:accent5>
      <a:accent6>
        <a:srgbClr val="3F7699"/>
      </a:accent6>
      <a:hlink>
        <a:srgbClr val="C8350F"/>
      </a:hlink>
      <a:folHlink>
        <a:srgbClr val="DB8464"/>
      </a:folHlink>
    </a:clrScheme>
    <a:fontScheme name="Editorial">
      <a:majorFont>
        <a:latin typeface="Haettenschweiler" panose="020B0706040902060204"/>
        <a:ea typeface=""/>
        <a:cs typeface=""/>
      </a:majorFont>
      <a:minorFont>
        <a:latin typeface="Trade Gothic Next Light"/>
        <a:ea typeface=""/>
        <a:cs typeface=""/>
      </a:minorFont>
    </a:fontScheme>
    <a:fmtScheme name="Editorial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2F21523F-1450-4BBE-8D19-3F14BB3ECA64}" vid="{44B8AA04-B608-4B8B-B4C4-CA5F4F453F5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Editorial</vt:lpstr>
      <vt:lpstr>Unit Meeting and Collaboration Final Presentation</vt:lpstr>
      <vt:lpstr>Initiative Overview</vt:lpstr>
      <vt:lpstr>Work Completed</vt:lpstr>
      <vt:lpstr>Procedure Development</vt:lpstr>
      <vt:lpstr>Implementation</vt:lpstr>
      <vt:lpstr>Outcomes and Effectiveness</vt:lpstr>
      <vt:lpstr>Challenges and Adaptations</vt:lpstr>
      <vt:lpstr>Reflection and Next Steps</vt:lpstr>
      <vt:lpstr>Team Contributions</vt:lpstr>
      <vt:lpstr>Questions &amp; Feedback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513</cp:revision>
  <dcterms:created xsi:type="dcterms:W3CDTF">2026-08-03T02:12:19Z</dcterms:created>
  <dcterms:modified xsi:type="dcterms:W3CDTF">2026-08-06T17:39:52Z</dcterms:modified>
</cp:coreProperties>
</file>