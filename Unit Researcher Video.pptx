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C01693-C3D1-6122-95E4-195430169151}" v="39" dt="2026-08-04T21:59:27.341"/>
    <p1510:client id="{7A0A3303-5CCB-85C3-A73E-DBD598AD286F}" v="1876" dt="2026-08-02T22:54:51.7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001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523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4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780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44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952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317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169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432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661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312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292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2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9.jpeg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73408" y="992094"/>
            <a:ext cx="3616913" cy="2795160"/>
          </a:xfrm>
        </p:spPr>
        <p:txBody>
          <a:bodyPr>
            <a:normAutofit/>
          </a:bodyPr>
          <a:lstStyle/>
          <a:p>
            <a:r>
              <a:rPr lang="ko-KR" altLang="en-US" sz="4400">
                <a:latin typeface="Aptos"/>
                <a:ea typeface="맑은 고딕"/>
              </a:rPr>
              <a:t>Unit Meeting and Collaboration</a:t>
            </a:r>
            <a:endParaRPr lang="ko-KR" altLang="en-US" sz="4400">
              <a:latin typeface="Aptos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996287" y="4121253"/>
            <a:ext cx="3125337" cy="53359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ko-KR" altLang="en-US" sz="1800">
                <a:ea typeface="맑은 고딕"/>
              </a:rPr>
              <a:t>Researcher Introduction</a:t>
            </a:r>
            <a:endParaRPr lang="ko-KR" altLang="en-US" sz="1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20AE862-F055-6332-9654-5CF5A8CCF6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858" t="25047" r="18616" b="8474"/>
          <a:stretch>
            <a:fillRect/>
          </a:stretch>
        </p:blipFill>
        <p:spPr>
          <a:xfrm>
            <a:off x="5895751" y="1576065"/>
            <a:ext cx="5708649" cy="3675894"/>
          </a:xfrm>
          <a:prstGeom prst="rect">
            <a:avLst/>
          </a:prstGeom>
        </p:spPr>
      </p:pic>
      <p:pic>
        <p:nvPicPr>
          <p:cNvPr id="5" name="slide1">
            <a:hlinkClick r:id="" action="ppaction://media"/>
            <a:extLst>
              <a:ext uri="{FF2B5EF4-FFF2-40B4-BE49-F238E27FC236}">
                <a16:creationId xmlns:a16="http://schemas.microsoft.com/office/drawing/2014/main" id="{02C0F7E6-ECAB-F4D4-2EA9-DA1DB6F15C7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19125" y="5593292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6E0E82-33EF-DF74-ADD4-25CD40075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r>
              <a:rPr lang="ko-KR" altLang="en-US" sz="4000">
                <a:latin typeface="Aptos"/>
                <a:ea typeface="맑은 고딕"/>
              </a:rPr>
              <a:t>What is Unit?</a:t>
            </a:r>
            <a:endParaRPr lang="ko-KR" altLang="en-US" sz="4000">
              <a:latin typeface="Aptos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0ED127-9990-B875-F053-132706B0D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z="2000">
                <a:ea typeface="맑은 고딕"/>
              </a:rPr>
              <a:t>A group of HAAG projects organized around similar research topics, separate from your individual projects</a:t>
            </a:r>
            <a:endParaRPr lang="ko-KR" altLang="en-US" sz="2000">
              <a:ea typeface="맑은 고딕" panose="020B0503020000020004" pitchFamily="34" charset="-127"/>
            </a:endParaRPr>
          </a:p>
          <a:p>
            <a:r>
              <a:rPr lang="ko-KR" altLang="en-US" sz="2000">
                <a:ea typeface="맑은 고딕"/>
              </a:rPr>
              <a:t>Biweekly meetings for sharing ideas and feedback</a:t>
            </a:r>
          </a:p>
          <a:p>
            <a:r>
              <a:rPr lang="ko-KR" altLang="en-US" sz="2000">
                <a:ea typeface="맑은 고딕"/>
              </a:rPr>
              <a:t>Share ideas and progress amongst different research groups</a:t>
            </a: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9C951FC1-7E70-56F4-F438-41E6D91716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pic>
        <p:nvPicPr>
          <p:cNvPr id="5" name="slide2">
            <a:hlinkClick r:id="" action="ppaction://media"/>
            <a:extLst>
              <a:ext uri="{FF2B5EF4-FFF2-40B4-BE49-F238E27FC236}">
                <a16:creationId xmlns:a16="http://schemas.microsoft.com/office/drawing/2014/main" id="{61E19722-2D74-30BD-E6C6-25C13F5088A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35915" y="5766435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37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0CAEF-AF4C-F36E-5364-F52473017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latin typeface="Aptos"/>
                <a:ea typeface="맑은 고딕"/>
              </a:rPr>
              <a:t>Roles</a:t>
            </a:r>
            <a:endParaRPr lang="ko-KR" altLang="en-US" dirty="0">
              <a:latin typeface="Aptos"/>
              <a:ea typeface="맑은 고딕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D5154D-1F98-C1C2-4BC2-4605E1ED1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524" y="3427118"/>
            <a:ext cx="5401160" cy="2749846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algn="just"/>
            <a:r>
              <a:rPr lang="ko-KR" altLang="en-US" b="1">
                <a:latin typeface="Aptos"/>
                <a:ea typeface="맑은 고딕"/>
              </a:rPr>
              <a:t>Representatives</a:t>
            </a: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ko-KR" altLang="en-US">
                <a:latin typeface="Aptos"/>
                <a:ea typeface="맑은 고딕"/>
              </a:rPr>
              <a:t>One per project is mandatory</a:t>
            </a: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ko-KR" altLang="en-US">
                <a:latin typeface="Aptos"/>
                <a:ea typeface="맑은 고딕"/>
              </a:rPr>
              <a:t>Gets updates from non-participating members</a:t>
            </a: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ko-KR" altLang="en-US">
                <a:latin typeface="Aptos"/>
                <a:ea typeface="맑은 고딕"/>
              </a:rPr>
              <a:t>Make presentation  and agenda out of everyone's updates</a:t>
            </a: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ko-KR" altLang="en-US">
                <a:latin typeface="Aptos"/>
                <a:ea typeface="맑은 고딕"/>
              </a:rPr>
              <a:t>Shares updates for the entire team</a:t>
            </a: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ko-KR" altLang="en-US">
                <a:latin typeface="Aptos"/>
                <a:ea typeface="맑은 고딕"/>
              </a:rPr>
              <a:t>Find alternative rep if they cannot make it to the meeting</a:t>
            </a:r>
          </a:p>
          <a:p>
            <a:pPr lvl="1" algn="just">
              <a:buFont typeface="Courier New" panose="020B0604020202020204" pitchFamily="34" charset="0"/>
              <a:buChar char="o"/>
            </a:pPr>
            <a:endParaRPr lang="ko-KR" altLang="en-US" dirty="0">
              <a:latin typeface="Aptos"/>
              <a:ea typeface="맑은 고딕"/>
            </a:endParaRPr>
          </a:p>
          <a:p>
            <a:pPr algn="just"/>
            <a:endParaRPr lang="ko-KR" altLang="en-US" dirty="0">
              <a:latin typeface="Aptos"/>
              <a:ea typeface="맑은 고딕"/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D1249327-ACA8-1218-FA10-8009E194F1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17572" y="1975427"/>
            <a:ext cx="1048870" cy="1071281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27B15E00-A0B3-6F38-63DD-555FD67E39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8686" y="1971247"/>
            <a:ext cx="925606" cy="10712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4D1785-A516-63EB-FE28-66B002B61CD6}"/>
              </a:ext>
            </a:extLst>
          </p:cNvPr>
          <p:cNvSpPr txBox="1"/>
          <p:nvPr/>
        </p:nvSpPr>
        <p:spPr>
          <a:xfrm>
            <a:off x="6353735" y="3429000"/>
            <a:ext cx="5390029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 algn="just">
              <a:buFont typeface=""/>
              <a:buChar char="•"/>
            </a:pPr>
            <a:r>
              <a:rPr lang="ko-KR" sz="2600" b="1" i="0" u="none" strike="noStrike" baseline="0">
                <a:solidFill>
                  <a:srgbClr val="000000"/>
                </a:solidFill>
                <a:latin typeface="Aptos"/>
                <a:ea typeface="맑은 고딕"/>
                <a:cs typeface="Arial"/>
              </a:rPr>
              <a:t>Non-participating members</a:t>
            </a:r>
            <a:r>
              <a:rPr lang="ko-KR" sz="2600" b="1" i="0">
                <a:solidFill>
                  <a:srgbClr val="000000"/>
                </a:solidFill>
                <a:latin typeface="Aptos"/>
                <a:ea typeface="맑은 고딕"/>
                <a:cs typeface="Arial"/>
              </a:rPr>
              <a:t>​</a:t>
            </a:r>
            <a:endParaRPr lang="ko-KR" b="1">
              <a:solidFill>
                <a:srgbClr val="000000"/>
              </a:solidFill>
              <a:latin typeface="Aptos"/>
              <a:ea typeface="맑은 고딕" panose="020B0503020000020004" pitchFamily="34" charset="-127"/>
              <a:cs typeface="Arial"/>
            </a:endParaRPr>
          </a:p>
          <a:p>
            <a:pPr marL="685800" lvl="1" indent="-228600" algn="just">
              <a:buFont typeface="Courier New,monospace"/>
              <a:buChar char="o"/>
            </a:pPr>
            <a:r>
              <a:rPr lang="ko-KR" sz="2200" b="0" i="0" u="none" strike="noStrike" baseline="0">
                <a:solidFill>
                  <a:srgbClr val="000000"/>
                </a:solidFill>
                <a:latin typeface="Aptos"/>
                <a:ea typeface="맑은 고딕"/>
                <a:cs typeface="Arial"/>
              </a:rPr>
              <a:t>Submit an update template before meeting</a:t>
            </a:r>
            <a:r>
              <a:rPr lang="ko-KR" sz="2200" b="0" i="0">
                <a:solidFill>
                  <a:srgbClr val="000000"/>
                </a:solidFill>
                <a:latin typeface="Aptos"/>
                <a:ea typeface="맑은 고딕"/>
                <a:cs typeface="Arial"/>
              </a:rPr>
              <a:t>​</a:t>
            </a:r>
            <a:endParaRPr lang="ko-KR" altLang="en-US">
              <a:solidFill>
                <a:srgbClr val="000000"/>
              </a:solidFill>
              <a:latin typeface="Aptos"/>
              <a:ea typeface="맑은 고딕"/>
              <a:cs typeface="Arial"/>
            </a:endParaRPr>
          </a:p>
          <a:p>
            <a:pPr marL="685800" lvl="1" indent="-228600" algn="just">
              <a:buFont typeface="Courier New,monospace"/>
              <a:buChar char="o"/>
            </a:pPr>
            <a:r>
              <a:rPr lang="ko-KR" sz="2200" b="0" i="0" u="none" strike="noStrike" baseline="0">
                <a:solidFill>
                  <a:srgbClr val="000000"/>
                </a:solidFill>
                <a:latin typeface="Aptos"/>
                <a:ea typeface="맑은 고딕"/>
                <a:cs typeface="Arial"/>
              </a:rPr>
              <a:t>Leave notes on template for reps</a:t>
            </a:r>
            <a:r>
              <a:rPr lang="ko-KR" sz="2200" b="0" i="0">
                <a:solidFill>
                  <a:srgbClr val="000000"/>
                </a:solidFill>
                <a:latin typeface="Aptos"/>
                <a:ea typeface="맑은 고딕"/>
                <a:cs typeface="Arial"/>
              </a:rPr>
              <a:t>​</a:t>
            </a:r>
            <a:endParaRPr lang="ko-KR" b="0" i="0">
              <a:solidFill>
                <a:srgbClr val="000000"/>
              </a:solidFill>
              <a:latin typeface="Aptos"/>
              <a:ea typeface="맑은 고딕"/>
              <a:cs typeface="Arial"/>
            </a:endParaRPr>
          </a:p>
          <a:p>
            <a:pPr algn="just"/>
            <a:endParaRPr lang="ko-KR" altLang="en-US" dirty="0">
              <a:latin typeface="Aptos"/>
              <a:ea typeface="맑은 고딕"/>
            </a:endParaRPr>
          </a:p>
        </p:txBody>
      </p:sp>
      <p:pic>
        <p:nvPicPr>
          <p:cNvPr id="7" name="slide3">
            <a:hlinkClick r:id="" action="ppaction://media"/>
            <a:extLst>
              <a:ext uri="{FF2B5EF4-FFF2-40B4-BE49-F238E27FC236}">
                <a16:creationId xmlns:a16="http://schemas.microsoft.com/office/drawing/2014/main" id="{20B76788-544C-6CAD-05DC-AAB69E85699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2395" y="5928995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724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8F50C-9ABE-CA3E-676D-E61E70EF3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60785"/>
            <a:ext cx="3566160" cy="158568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ko-KR">
                <a:latin typeface="Malgun Gothic"/>
                <a:ea typeface="Malgun Gothic"/>
              </a:rPr>
              <a:t>Update Templates</a:t>
            </a:r>
          </a:p>
        </p:txBody>
      </p:sp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B6A8ADAC-0CFF-2E21-F744-D353BC57C3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l="19908" t="22772" r="3890" b="9241"/>
          <a:stretch>
            <a:fillRect/>
          </a:stretch>
        </p:blipFill>
        <p:spPr>
          <a:xfrm>
            <a:off x="4947828" y="2209448"/>
            <a:ext cx="3438144" cy="191718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762BDCC-7369-C054-D221-B06DD09697B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308" t="23457" r="4113" b="8642"/>
          <a:stretch>
            <a:fillRect/>
          </a:stretch>
        </p:blipFill>
        <p:spPr>
          <a:xfrm>
            <a:off x="8345272" y="2222676"/>
            <a:ext cx="3294076" cy="184966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319481F-9348-3682-89C9-B3086014B42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642" t="23948" r="4358" b="9709"/>
          <a:stretch>
            <a:fillRect/>
          </a:stretch>
        </p:blipFill>
        <p:spPr>
          <a:xfrm>
            <a:off x="4994713" y="4084618"/>
            <a:ext cx="3300984" cy="182497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7E86FA6-D3C0-31E3-AF3A-F1AB76252FA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183" t="24026" r="4587" b="9091"/>
          <a:stretch>
            <a:fillRect/>
          </a:stretch>
        </p:blipFill>
        <p:spPr>
          <a:xfrm>
            <a:off x="8287180" y="4086721"/>
            <a:ext cx="3438143" cy="191041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5EC3C11-AB4F-6184-5715-6623846AB5CC}"/>
              </a:ext>
            </a:extLst>
          </p:cNvPr>
          <p:cNvSpPr txBox="1"/>
          <p:nvPr/>
        </p:nvSpPr>
        <p:spPr>
          <a:xfrm>
            <a:off x="1159275" y="3074600"/>
            <a:ext cx="3477827" cy="30914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0C3498-F520-66FC-1EF1-742264AB9029}"/>
              </a:ext>
            </a:extLst>
          </p:cNvPr>
          <p:cNvSpPr txBox="1"/>
          <p:nvPr/>
        </p:nvSpPr>
        <p:spPr>
          <a:xfrm>
            <a:off x="504033" y="2318551"/>
            <a:ext cx="4351484" cy="32008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ko-KR" altLang="en-US" sz="2600">
                <a:ea typeface="맑은 고딕"/>
              </a:rPr>
              <a:t>Includes the following:</a:t>
            </a:r>
          </a:p>
          <a:p>
            <a:pPr marL="742950" lvl="1" indent="-285750">
              <a:buFont typeface="Courier New"/>
              <a:buChar char="o"/>
            </a:pPr>
            <a:r>
              <a:rPr lang="ko-KR" altLang="en-US" sz="2200">
                <a:ea typeface="맑은 고딕"/>
              </a:rPr>
              <a:t>What was done this week</a:t>
            </a:r>
            <a:endParaRPr lang="ko-KR" altLang="en-US" sz="2200" dirty="0">
              <a:ea typeface="맑은 고딕"/>
            </a:endParaRPr>
          </a:p>
          <a:p>
            <a:pPr marL="742950" lvl="1" indent="-285750">
              <a:buFont typeface="Courier New"/>
              <a:buChar char="o"/>
            </a:pPr>
            <a:r>
              <a:rPr lang="ko-KR" altLang="en-US" sz="2200">
                <a:ea typeface="맑은 고딕"/>
              </a:rPr>
              <a:t>What it means for the project</a:t>
            </a:r>
            <a:endParaRPr lang="ko-KR" altLang="en-US" sz="2200" dirty="0">
              <a:ea typeface="맑은 고딕"/>
            </a:endParaRPr>
          </a:p>
          <a:p>
            <a:pPr marL="742950" lvl="1" indent="-285750">
              <a:buFont typeface="Courier New"/>
              <a:buChar char="o"/>
            </a:pPr>
            <a:r>
              <a:rPr lang="ko-KR" altLang="en-US" sz="2200">
                <a:ea typeface="맑은 고딕"/>
              </a:rPr>
              <a:t>What will be the next</a:t>
            </a:r>
          </a:p>
          <a:p>
            <a:pPr marL="742950" lvl="1" indent="-285750">
              <a:buFont typeface="Courier New"/>
              <a:buChar char="o"/>
            </a:pPr>
            <a:r>
              <a:rPr lang="ko-KR" altLang="en-US" sz="2200">
                <a:ea typeface="맑은 고딕"/>
              </a:rPr>
              <a:t>Blockers and questions</a:t>
            </a:r>
          </a:p>
          <a:p>
            <a:pPr marL="285750" indent="-285750">
              <a:buFont typeface="Arial"/>
              <a:buChar char="•"/>
            </a:pPr>
            <a:r>
              <a:rPr lang="ko-KR" altLang="en-US" sz="2200">
                <a:ea typeface="맑은 고딕"/>
              </a:rPr>
              <a:t>Full picture of the team</a:t>
            </a:r>
            <a:endParaRPr lang="ko-KR" altLang="en-US" sz="2200" dirty="0">
              <a:ea typeface="맑은 고딕"/>
            </a:endParaRPr>
          </a:p>
          <a:p>
            <a:pPr marL="285750" indent="-285750">
              <a:buFont typeface="Arial"/>
              <a:buChar char="•"/>
            </a:pPr>
            <a:r>
              <a:rPr lang="ko-KR" altLang="en-US" sz="2200">
                <a:ea typeface="맑은 고딕"/>
              </a:rPr>
              <a:t>Reps will use this to build presentations and agenda</a:t>
            </a:r>
            <a:endParaRPr lang="ko-KR" altLang="en-US" sz="2200" dirty="0">
              <a:ea typeface="맑은 고딕"/>
            </a:endParaRPr>
          </a:p>
        </p:txBody>
      </p:sp>
      <p:pic>
        <p:nvPicPr>
          <p:cNvPr id="3" name="slide4">
            <a:hlinkClick r:id="" action="ppaction://media"/>
            <a:extLst>
              <a:ext uri="{FF2B5EF4-FFF2-40B4-BE49-F238E27FC236}">
                <a16:creationId xmlns:a16="http://schemas.microsoft.com/office/drawing/2014/main" id="{0084F2B6-8A8C-D406-7B60-B48FFDE6F9E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74955" y="5807075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79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6566B2-51AB-CFE2-577C-BAFFED928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Unit Meeting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3057CA-FF24-6EF8-5DA7-9024ED442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>
                <a:ea typeface="맑은 고딕"/>
              </a:rPr>
              <a:t>All recorded</a:t>
            </a:r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Representatives present slides</a:t>
            </a:r>
            <a:endParaRPr lang="ko-KR" altLang="en-US" dirty="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>
                <a:ea typeface="맑은 고딕"/>
              </a:rPr>
              <a:t>Share progress of their team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>
                <a:ea typeface="맑은 고딕"/>
              </a:rPr>
              <a:t>Get feedback,</a:t>
            </a:r>
            <a:endParaRPr lang="ko-KR" altLang="en-US" dirty="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>
                <a:ea typeface="맑은 고딕"/>
              </a:rPr>
              <a:t>Address any questions/concerns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>
                <a:ea typeface="맑은 고딕"/>
              </a:rPr>
              <a:t>Share ideas with other researchers and faculty members</a:t>
            </a:r>
            <a:endParaRPr lang="ko-KR" altLang="en-US" dirty="0">
              <a:ea typeface="맑은 고딕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ko-KR" altLang="en-US">
                <a:ea typeface="맑은 고딕"/>
              </a:rPr>
              <a:t>Some groups may not have faculty member</a:t>
            </a:r>
          </a:p>
          <a:p>
            <a:r>
              <a:rPr lang="ko-KR" altLang="en-US">
                <a:ea typeface="맑은 고딕"/>
              </a:rPr>
              <a:t>If someone's work causes confusion, they must follow-up on the recording thread</a:t>
            </a:r>
          </a:p>
        </p:txBody>
      </p:sp>
      <p:pic>
        <p:nvPicPr>
          <p:cNvPr id="4" name="slide5">
            <a:hlinkClick r:id="" action="ppaction://media"/>
            <a:extLst>
              <a:ext uri="{FF2B5EF4-FFF2-40B4-BE49-F238E27FC236}">
                <a16:creationId xmlns:a16="http://schemas.microsoft.com/office/drawing/2014/main" id="{BFAD7511-5F0B-338C-50D8-AC78B6E8FB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4955" y="5918835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683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0E23F6-8827-E6D2-C7EB-672E0647D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Post-Meeting</a:t>
            </a:r>
            <a:endParaRPr lang="ko-KR" altLang="en-US" dirty="0">
              <a:ea typeface="맑은 고딕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620543-E93B-40E2-1520-B0FD987D1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>
                <a:ea typeface="맑은 고딕"/>
              </a:rPr>
              <a:t>Reps will have to:</a:t>
            </a:r>
            <a:endParaRPr lang="ko-KR"/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>
                <a:ea typeface="맑은 고딕"/>
              </a:rPr>
              <a:t>Share a brief report with feedback and action items with the team</a:t>
            </a:r>
            <a:endParaRPr lang="ko-KR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>
                <a:ea typeface="맑은 고딕"/>
              </a:rPr>
              <a:t>Also post a recap to #time-log within 24 hours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ko-KR" altLang="en-US">
                <a:ea typeface="맑은 고딕"/>
              </a:rPr>
              <a:t>Grab recording, generate AI summary, and post  the summary with a recording link and attendance list</a:t>
            </a:r>
          </a:p>
          <a:p>
            <a:pPr lvl="2">
              <a:buFont typeface="Wingdings" panose="020B0604020202020204" pitchFamily="34" charset="0"/>
              <a:buChar char="§"/>
            </a:pPr>
            <a:endParaRPr lang="ko-KR" altLang="en-US" dirty="0">
              <a:ea typeface="맑은 고딕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ko-KR" altLang="en-US" dirty="0">
              <a:ea typeface="맑은 고딕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6C1B947-7F20-0EA6-8254-A09BBA8281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4064" y="3785399"/>
            <a:ext cx="4044950" cy="115993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12ABF18-55AE-E6DA-B2F5-ED65004D30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4389" y="4934562"/>
            <a:ext cx="4034014" cy="186302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D835EB8-860D-EC1F-9D61-36F3CCE773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8874" y="3783335"/>
            <a:ext cx="3733095" cy="18224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C309D0-CDAE-CA08-1441-630D2AA46828}"/>
              </a:ext>
            </a:extLst>
          </p:cNvPr>
          <p:cNvSpPr txBox="1"/>
          <p:nvPr/>
        </p:nvSpPr>
        <p:spPr>
          <a:xfrm>
            <a:off x="7510289" y="6171722"/>
            <a:ext cx="19710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LLM Summary</a:t>
            </a:r>
            <a:endParaRPr lang="ko-KR" altLang="en-US"/>
          </a:p>
        </p:txBody>
      </p:sp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7D266587-DF7B-99DE-6C76-83FDE7F9F036}"/>
              </a:ext>
            </a:extLst>
          </p:cNvPr>
          <p:cNvSpPr/>
          <p:nvPr/>
        </p:nvSpPr>
        <p:spPr>
          <a:xfrm>
            <a:off x="8351181" y="5701197"/>
            <a:ext cx="285618" cy="352823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십자형 10">
            <a:extLst>
              <a:ext uri="{FF2B5EF4-FFF2-40B4-BE49-F238E27FC236}">
                <a16:creationId xmlns:a16="http://schemas.microsoft.com/office/drawing/2014/main" id="{9621B1B0-1B1F-3745-86FB-3C70AC1D9D18}"/>
              </a:ext>
            </a:extLst>
          </p:cNvPr>
          <p:cNvSpPr/>
          <p:nvPr/>
        </p:nvSpPr>
        <p:spPr>
          <a:xfrm>
            <a:off x="5864016" y="4569898"/>
            <a:ext cx="470430" cy="487231"/>
          </a:xfrm>
          <a:prstGeom prst="pl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slide6">
            <a:hlinkClick r:id="" action="ppaction://media"/>
            <a:extLst>
              <a:ext uri="{FF2B5EF4-FFF2-40B4-BE49-F238E27FC236}">
                <a16:creationId xmlns:a16="http://schemas.microsoft.com/office/drawing/2014/main" id="{F2285FF6-3D94-FB5A-F501-46C532C51CA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2395" y="6000115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31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873E47-D440-25BC-BCD3-8E5C7480F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Working Sessions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0BB85E-2434-911C-D73F-1DE845001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>
                <a:ea typeface="맑은 고딕"/>
              </a:rPr>
              <a:t>Separate from unit meetings</a:t>
            </a:r>
          </a:p>
          <a:p>
            <a:r>
              <a:rPr lang="ko-KR" altLang="en-US">
                <a:ea typeface="맑은 고딕"/>
              </a:rPr>
              <a:t>Self-organized sessions that do not involve faculty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>
                <a:ea typeface="맑은 고딕"/>
              </a:rPr>
              <a:t>Every project needs to attend with another team in their unit at least once per semester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>
                <a:ea typeface="맑은 고딕"/>
              </a:rPr>
              <a:t>At least 3 people in attendance</a:t>
            </a:r>
          </a:p>
          <a:p>
            <a:r>
              <a:rPr lang="ko-KR" altLang="en-US">
                <a:ea typeface="맑은 고딕"/>
              </a:rPr>
              <a:t>Must report back on what they worked on afterwards</a:t>
            </a:r>
          </a:p>
        </p:txBody>
      </p:sp>
      <p:pic>
        <p:nvPicPr>
          <p:cNvPr id="4" name="slide7">
            <a:hlinkClick r:id="" action="ppaction://media"/>
            <a:extLst>
              <a:ext uri="{FF2B5EF4-FFF2-40B4-BE49-F238E27FC236}">
                <a16:creationId xmlns:a16="http://schemas.microsoft.com/office/drawing/2014/main" id="{A388AA2E-5541-4A3A-0DAF-21FD53B8F2B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9292" y="5942542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482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0AB3E0-E534-2A47-256A-7A08A0F3A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Grading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EAAF06-3C7E-30C0-E44F-0E1F1A1A2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>
                <a:ea typeface="맑은 고딕"/>
              </a:rPr>
              <a:t>All the reports, templates, agendas, and attendance will be tracked for grading purposes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EB51807-0C8F-154C-4BEF-1C4C69F1B2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552" t="39506" r="24968" b="26543"/>
          <a:stretch>
            <a:fillRect/>
          </a:stretch>
        </p:blipFill>
        <p:spPr>
          <a:xfrm>
            <a:off x="1555044" y="2652889"/>
            <a:ext cx="9077809" cy="3683006"/>
          </a:xfrm>
          <a:prstGeom prst="rect">
            <a:avLst/>
          </a:prstGeom>
        </p:spPr>
      </p:pic>
      <p:pic>
        <p:nvPicPr>
          <p:cNvPr id="5" name="slide8">
            <a:hlinkClick r:id="" action="ppaction://media"/>
            <a:extLst>
              <a:ext uri="{FF2B5EF4-FFF2-40B4-BE49-F238E27FC236}">
                <a16:creationId xmlns:a16="http://schemas.microsoft.com/office/drawing/2014/main" id="{AE3F1EA1-C251-28F8-54C8-BC51FD62431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395" y="5979795"/>
            <a:ext cx="730250" cy="73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328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Unit Meeting and Collaboration</vt:lpstr>
      <vt:lpstr>What is Unit?</vt:lpstr>
      <vt:lpstr>Roles</vt:lpstr>
      <vt:lpstr>Update Templates</vt:lpstr>
      <vt:lpstr>Unit Meeting</vt:lpstr>
      <vt:lpstr>Post-Meeting</vt:lpstr>
      <vt:lpstr>Working Sessions</vt:lpstr>
      <vt:lpstr>Grading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331</cp:revision>
  <dcterms:created xsi:type="dcterms:W3CDTF">2026-08-02T02:22:17Z</dcterms:created>
  <dcterms:modified xsi:type="dcterms:W3CDTF">2026-08-07T01:28:15Z</dcterms:modified>
</cp:coreProperties>
</file>